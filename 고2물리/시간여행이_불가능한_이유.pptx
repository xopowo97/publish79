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411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52919" y="1827503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시간 여행이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불가능한 이유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2919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현대 물리학과 열역학으로 파헤치는 시공간의 한계</a:t>
            </a:r>
            <a:endParaRPr 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2D19657-BEEF-416F-E035-47C4DEFECF77}"/>
              </a:ext>
            </a:extLst>
          </p:cNvPr>
          <p:cNvGrpSpPr/>
          <p:nvPr/>
        </p:nvGrpSpPr>
        <p:grpSpPr>
          <a:xfrm>
            <a:off x="5217268" y="822960"/>
            <a:ext cx="3474720" cy="3474720"/>
            <a:chOff x="7772400" y="1371600"/>
            <a:chExt cx="3474720" cy="3474720"/>
          </a:xfrm>
        </p:grpSpPr>
        <p:sp>
          <p:nvSpPr>
            <p:cNvPr id="6" name="Shape 4"/>
            <p:cNvSpPr/>
            <p:nvPr/>
          </p:nvSpPr>
          <p:spPr>
            <a:xfrm>
              <a:off x="7772400" y="1371600"/>
              <a:ext cx="3474720" cy="34747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284C7"/>
              </a:solidFill>
              <a:prstDash val="dash"/>
            </a:ln>
          </p:spPr>
        </p:sp>
        <p:sp>
          <p:nvSpPr>
            <p:cNvPr id="7" name="Shape 5"/>
            <p:cNvSpPr/>
            <p:nvPr/>
          </p:nvSpPr>
          <p:spPr>
            <a:xfrm>
              <a:off x="8321040" y="1920240"/>
              <a:ext cx="2377440" cy="237744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9235440" y="2834640"/>
              <a:ext cx="548640" cy="548640"/>
            </a:xfrm>
            <a:prstGeom prst="ellipse">
              <a:avLst/>
            </a:prstGeom>
            <a:solidFill>
              <a:srgbClr val="0284C7"/>
            </a:solidFill>
            <a:ln w="25400">
              <a:solidFill>
                <a:srgbClr val="FFFFFF"/>
              </a:solidFill>
              <a:prstDash val="solid"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8895"/>
            <a:ext cx="91439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시간 여행의 두 갈래 길: 미래 vs 과거</a:t>
            </a:r>
            <a:endParaRPr lang="en-US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0054" y="1459148"/>
            <a:ext cx="6485" cy="36057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0910" y="1511030"/>
            <a:ext cx="28210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🚀 미래 여행 (Future)</a:t>
            </a:r>
            <a:endParaRPr 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11292" y="1602470"/>
            <a:ext cx="12775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[ 조건부 가능 ]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7523" y="2673165"/>
            <a:ext cx="400779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움직이는 대상의 시간은 느리게 흐릅니다(상대성 이론).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이 시간 지연을 이용해 미래로 도약하는 편도선 </a:t>
            </a: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여행은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</a:t>
            </a:r>
          </a:p>
          <a:p>
            <a:pPr marL="0" indent="0">
              <a:lnSpc>
                <a:spcPts val="2600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물리학적으로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이미 검증된 사실입니다.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30369" y="1511030"/>
            <a:ext cx="25214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11D4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↩️ 과거 여행 (Past)</a:t>
            </a:r>
            <a:endParaRPr 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50607" y="1602470"/>
            <a:ext cx="13216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[ 절대 불가능 ]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96514" y="260831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시간을 뒤로 감는 것은 우주의 근본 논리 체계를 뒤흔듭니다. 원인이 결과보다 항상 앞서야 하는 '인과율'이 과거행 경로를 영구 차단합니다.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0" y="6035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02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4949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여행: 시간 지연과 광속의 한계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1576368"/>
            <a:ext cx="45720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🏃‍♂️ 달리기 시합과 손목시계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6334" y="2906621"/>
            <a:ext cx="2931267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016870" y="2723741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217" y="3570698"/>
            <a:ext cx="4389120" cy="1260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광속 우주선을 탄 친구는 겨우 '하루' 동안 달렸을 뿐인데, </a:t>
            </a:r>
          </a:p>
          <a:p>
            <a:pPr marL="0" indent="0">
              <a:lnSpc>
                <a:spcPts val="2600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지구의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달력은 이미 '일주일'이 지나 있습니다. 친구는 </a:t>
            </a: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지구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</a:t>
            </a:r>
          </a:p>
          <a:p>
            <a:pPr marL="0" indent="0">
              <a:lnSpc>
                <a:spcPts val="2600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기준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미래의 영역으로 혼자 튀어 올라온 셈입니다.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0" cy="42062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681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⚛️ 특수 상대성 이론 공식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81472" y="2540861"/>
            <a:ext cx="315305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4C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rbitron" pitchFamily="34" charset="-120"/>
              </a:rPr>
              <a:t>t'  =  t   /   √(1 - v²/c²)</a:t>
            </a:r>
            <a:endParaRPr 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95218" y="3570698"/>
            <a:ext cx="4389120" cy="1420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⚡ 속도(v)가 빛의 속도(c)에 근접할수록 우주선 내부 시간(t')은 지구(t)보다 </a:t>
            </a: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정체됩니다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ts val="23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⚡ 단, 광속에 도달하려면 우주선에 무한한 에너지(기름값)가 소모되므로 현실적 한계가 존재합니다.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0" y="6035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7059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과거 여행이 물리적으로 불가한 이유</a:t>
            </a:r>
            <a:endParaRPr lang="en-US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3042806"/>
            <a:ext cx="10332720" cy="0"/>
          </a:xfrm>
          <a:prstGeom prst="line">
            <a:avLst/>
          </a:prstGeom>
          <a:noFill/>
          <a:ln w="50800">
            <a:solidFill>
              <a:srgbClr val="E2E8F0"/>
            </a:solidFill>
            <a:prstDash val="solid"/>
            <a:headEnd type="arrow"/>
          </a:ln>
        </p:spPr>
      </p:sp>
      <p:sp>
        <p:nvSpPr>
          <p:cNvPr id="4" name="Shape 2"/>
          <p:cNvSpPr/>
          <p:nvPr/>
        </p:nvSpPr>
        <p:spPr>
          <a:xfrm>
            <a:off x="1963695" y="2884379"/>
            <a:ext cx="219456" cy="21945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3423" y="2692094"/>
            <a:ext cx="0" cy="255317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0" y="1101626"/>
            <a:ext cx="37168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580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🧹 쏟아진 우유와 엔트로피</a:t>
            </a:r>
            <a:endParaRPr 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" y="1453384"/>
            <a:ext cx="3584447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우유를 바닥에 쏟으면 사방으로 퍼지지만, 가만히 둔다고 스스로 다시 컵에 담기지는 않습니다. 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우주도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똑같이 무질서도가 늘어나는 한 방향으로만 흐릅니다 (열역학 제2법칙).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82640" y="2928475"/>
            <a:ext cx="219456" cy="219456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92368" y="2999763"/>
            <a:ext cx="0" cy="378973"/>
          </a:xfrm>
          <a:prstGeom prst="line">
            <a:avLst/>
          </a:prstGeom>
          <a:noFill/>
          <a:ln w="19050">
            <a:solidFill>
              <a:srgbClr val="E11D4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131340" y="3347797"/>
            <a:ext cx="3566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11D4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👤 그림자 잡기와 빛의 한계</a:t>
            </a:r>
            <a:endParaRPr 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40613" y="3789881"/>
            <a:ext cx="43482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거울에 반사되어 도망치는 내 그림자보다 내가 더 빨리 뛸 순 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없듯이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, 우주의 그 어떤 물질과 정보도 우주 최고 </a:t>
            </a: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한계선인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빛의</a:t>
            </a: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속도(c)보다 빨라질 순 없습니다.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0" y="6035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04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057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 모순: 할아버지 역설과 보호막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🍗 치킨 역설 (할아버지 역설)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어제 치킨 가게 사장님의 개업을 막기 위해 과거로 돌아가 훼방을 놓았습니다. 그렇다면 오늘 내가 맛있게 먹은 치킨은 어디서 온 것일까요?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ts val="2600"/>
              </a:lnSpc>
              <a:buNone/>
            </a:pP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이처럼 내가 태어나기 전 과거의 원인을 바꾸려 할 때 발생하는 모순이며, 우주는 원인이 결과를 앞서야 한다는 인과율(Causality)을 보호합니다.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89904" y="1645920"/>
            <a:ext cx="0" cy="42062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시간 순서 보호 가설 (우주의 모순 방어막)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스티븐 호킹 박사는 우주가 논리 오류(시간 모순)를 감지하고 스스로를 지키는 방패를 작동한다고 주장했습니다.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ts val="2600"/>
              </a:lnSpc>
              <a:buNone/>
            </a:pP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과거로 가는 웜홀이 만들어지려는 찰나의 순간, 가상 입자와 빛이 통로를 돌며 마이크 하울링처럼 무한 폭주하여 웜홀 장치 자체가 폭발해 붕괴한다는 이론입니다.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6035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여행은 기술의 한계 때문이 아닙니다.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9418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살펴본 '쏟아진 우유의 법칙(열역학 법칙)'과 '원인과 결과의 규칙(인과율)'이 과거로 가는 문을 꽁꽁 닫아 두었기 때문입니다.</a:t>
            </a:r>
            <a:endParaRPr lang="en-US" sz="2100" dirty="0"/>
          </a:p>
          <a:p>
            <a:pPr marL="0" indent="0" algn="ctr">
              <a:lnSpc>
                <a:spcPts val="3200"/>
              </a:lnSpc>
              <a:buNone/>
            </a:pPr>
            <a:endParaRPr lang="en-US" sz="21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우리가 할 수 있는 진짜 가장 멋진 시간 여행은, 바로 지금 이 순간인 '현재'를 열심히 살아가는 거라고 생각합니다.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경청해 주셔서 감사합니다. 질문이 있으시면 말씀해 주세요!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035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&amp; 모범 답변 (Q&amp;A)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3977640"/>
            <a:ext cx="10332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089904" y="1463040"/>
            <a:ext cx="0" cy="43891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웜홀이나 워프 등 공간 도약으로 과거로 갈 수 없나요?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공간을 접는 웜홀 통로 자체는 열릴 수 있으나 통과는 불가합니다. 웜홀이 생성되려는 찰나 미세 에너지가 통로를 타고 무한 하울링되어 웜홀 장치 자체가 스스로 폭발해 자멸하게 되기 때문입니다 (시간 순서 보호 가설).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에어컨으로 방이 정돈되면 시간이 되돌아간 건가요?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내 방 안의 분자가 정돈(엔트로피 감소)되더라도, 실외기가 바깥 우주로 훨씬 더 많은 뜨거운 열(무질서)을 방출했습니다. 우주 전체의 무질서도는 언제나 늘어나므로 시간의 방향은 뒤집히지 않습니다.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과거 여행은 안 되는데 미래 여행은 왜 역설이 없나요?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미래 여행(시간 지연)은 단순히 시간의 흐름 속도를 다르게 조정했을 뿐, 지구의 과거 역사를 훼손하지 않습니다. 원인이 결과를 앞선다는 우주 고유의 인과율 규칙을 깨뜨리지 않아 안전합니다.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광속을 넘으면 공식상 허수 시간이 되는데 무슨 뜻인가요?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45720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답변: 허수 시간(i)은 현실 세계에서는 측정하거나 느낄 수 없는 가상의 값입니다. 이는 질량을 가진 물질(우리)이 우주의 물리적인 절대 한계선인 빛의 속도를 돌파할 수 없음을 말해 줍니다.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[학년 / 반 / 이름 입력]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0" y="6035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675</Words>
  <Application>Microsoft Office PowerPoint</Application>
  <PresentationFormat>화면 슬라이드 쇼(16:9)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민상 서</cp:lastModifiedBy>
  <cp:revision>2</cp:revision>
  <dcterms:created xsi:type="dcterms:W3CDTF">2026-07-15T12:46:13Z</dcterms:created>
  <dcterms:modified xsi:type="dcterms:W3CDTF">2026-07-15T13:31:22Z</dcterms:modified>
</cp:coreProperties>
</file>